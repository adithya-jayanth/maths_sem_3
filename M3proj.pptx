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1B089-B2F5-094C-B690-CBD47E867D3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B639A-39C8-634C-A251-7D334BD13B3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09728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Movie Taste Clustering using Linear Algebra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3EA"/>
                </a:solidFill>
              </a:rPr>
              <a:t>Spectral clustering and recommendation on MovieLens 100K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UE25MA242A: Mathematical Foundation for AI &amp; Data Science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Mini Project | Problem 13: Social networks, clustering and eigenvalue problems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PES University, Department of CSE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Team Members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</a:rPr>
              <a:t>Achyutha N Kumar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</a:rPr>
              <a:t>PES1UG25CS020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13716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4630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</a:rPr>
              <a:t>Adithya Jayanth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</a:rPr>
              <a:t>PES1UG25CS023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73152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1089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</a:rPr>
              <a:t>Abhinav Kulkarni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</a:rPr>
              <a:t>PES1UG25CS014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393192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834640"/>
            <a:ext cx="73152" cy="13716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31089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</a:rPr>
              <a:t>Adithya S Maiya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6118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</a:rPr>
              <a:t>PES1UG25CS026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Platforms have thousands of users and movies, but each user rates only a few</a:t>
            </a:r>
            <a:r>
              <a:rPr lang="en-IN" sz="1800" dirty="0">
                <a:solidFill>
                  <a:srgbClr val="22303C"/>
                </a:solidFill>
              </a:rPr>
              <a:t> of them.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The ratings matrix is large, sparse and noisy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Goal 1: find groups of users with similar taste (communities in a user network)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Goal 2: predict ratings and recommend movies a user has not seen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Tool: linear algebra, from matrices to eigenvectors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and Matrix Representation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383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070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MovieLens 100K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56616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943 users, 1,682 movies, 100,000 ratings (1 to 5).</a:t>
            </a:r>
            <a:endParaRPr lang="en-US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This is a public dataset of movies ratings, released by the </a:t>
            </a:r>
            <a:r>
              <a:rPr lang="en-IN" sz="1600" dirty="0" err="1"/>
              <a:t>GroupLens</a:t>
            </a:r>
            <a:r>
              <a:rPr lang="en-IN" sz="1600" dirty="0"/>
              <a:t> research group.</a:t>
            </a: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This is considered to be extremely popular, hence we decided to use it.</a:t>
            </a:r>
            <a:endParaRPr lang="en-IN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We keep the 200 most active users and the 200 most-rated movies.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73152" cy="3383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2070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Ratings matrix R (200 x 200)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600200"/>
            <a:ext cx="356616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Rows = users, columns = movies, entry = rating.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22,428 ratings observed (56.1% of the matrix filled).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Ratings are mean-centred per user; unrated cells become 0 (average opinion).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Solution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37160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1. Data to matrix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13716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137160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2. RREF, rank, nullity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13716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137160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3. Basis selection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13716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137160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4. Gram-Schmidt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0" y="13716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0" y="137160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5. Projection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92608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6. Least squares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57400" y="29260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57400" y="292608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7. Similarity graph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29260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292608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8. Eigenvectors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40680" y="29260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292608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9. Diagonalization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0" y="29260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0" y="2926080"/>
            <a:ext cx="1508760" cy="10058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10. Clusters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Navy: structure and prediction     Teal: pattern discovery and final output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Matrix Simplification and Structure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383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070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Gaussian elimination / RREF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56616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Applied to a dense 6 x 6 block of ratings.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Result: 5 pivot columns, so rank 5. The 6th movie column equals the 3rd in this block, so it is redundant.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73152" cy="3383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2070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Rank and nullity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600200"/>
            <a:ext cx="356616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rank(R) = 199, so nullity = 200 - 199 = 1.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The first 10 singular directions capture 32.7% of the energy: a few taste patterns explain a good share of the ratings.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Basis Selection and Gram-Schmidt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383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070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Remove redundancy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56616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Pivoted QR picks 10 independent movies as a basis B, e.g. Pulp Fiction, Fargo, Star Wars, Grease, A Clockwork Orange.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rank(B) = 10.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73152" cy="3383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2070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Orthogonalize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600200"/>
            <a:ext cx="356616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Gram-Schmidt turns B into Q with orthonormal columns: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v = b - sum of (q.b) q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Check: Q^T Q = I (max deviation 3.3e-16).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Projection and Least Squares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383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070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Orthogonal projection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56616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P = Q Q^T projects a movie's rating vector onto span(Q).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Raiders of the Lost Ark: length 12.23 = projection 8.43 + residual 8.86 (at right angles).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73152" cy="3383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2070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Least squares prediction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600200"/>
            <a:ext cx="356616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Solve Bw ~ y on 80% of users, predict the other 20%.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Same answer as the projection.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03C"/>
                </a:solidFill>
              </a:rPr>
              <a:t>RMSE: baseline 0.874, least squares 0.836 (lower is better).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User Similarity Graph and Laplacian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Cosine similarity between mean-centred user rows gives S (symmetric)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Keep positive similarities as edge weights W, with no self loops, and keep only each user's 15 nearest neighbours (k-NN graph, made symmetric)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Degree matrix D: row sums of W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Normalized Laplacian: L = I - D^(-1/2) W D^(-1/2)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L is symmetric and positive semidefinite, so its eigenvalues are real and non-negative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Eigenvalues, Eigenvectors, Diagonalization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070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Pattern discovery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</a:rPr>
              <a:t>Smallest eigenvalues: 0, 0.34, 0.50, 0.57, 0.58 ... The curve levels off after the 3rd, so k = 3.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931920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73152" cy="16002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99008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Diagonalization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8328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</a:rPr>
              <a:t>L = Q Lambda Q^T verified: reconstruction matches, eigenvectors orthonormal, all eigenvalues &gt;= 0.</a:t>
            </a:r>
            <a:endParaRPr lang="en-US" sz="1300" dirty="0"/>
          </a:p>
        </p:txBody>
      </p:sp>
      <p:pic>
        <p:nvPicPr>
          <p:cNvPr id="14" name="Image 0" descr="eigenvalu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4023360" cy="234735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663440" y="36576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Eigenvalue plot: elbow at k = 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Spectral Clustering and Recommender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</a:rPr>
              <a:t>Embed each user using the first 3 eigenvectors (rows normalized)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</a:rPr>
              <a:t>k-means gives 3 clusters of 51, 71 and 78 users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</a:rPr>
              <a:t>The clusters are separate arcs in spectral space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</a:rPr>
              <a:t>Recommender: user ID, then the user's cluster, then top unseen movies of that cluster</a:t>
            </a:r>
            <a:endParaRPr lang="en-US" sz="1500" dirty="0"/>
          </a:p>
        </p:txBody>
      </p:sp>
      <p:pic>
        <p:nvPicPr>
          <p:cNvPr id="7" name="Image 0" descr="clust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97280"/>
            <a:ext cx="402336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Results: Taste Clusters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25603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070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Cluster 0 (51 users)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228600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</a:rPr>
              <a:t>Classic films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</a:rPr>
              <a:t>The Godfather, Casablanca, Rear Window, Citizen Kane, Psycho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256032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73152" cy="2560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070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Cluster 1 (71 users)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00200"/>
            <a:ext cx="228600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</a:rPr>
              <a:t>Popular crowd-pleasers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</a:rPr>
              <a:t>Raiders of the Lost Ark, Star Wars, Titanic, Good Will Hunting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256032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97280"/>
            <a:ext cx="73152" cy="25603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2070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Cluster 2 (78 users)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00200"/>
            <a:ext cx="228600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</a:rPr>
              <a:t>Acclaimed mix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</a:rPr>
              <a:t>The Usual Suspects, Shawshank Redemption, Casablanca, The Princess Bride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40480"/>
            <a:ext cx="7955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</a:rPr>
              <a:t>Demo: user 405 is in cluster 1 (rated Raising Arizona, The Fugitive, Field of Dreams highest). Recommended: Good Will Hunting, It's a Wonderful Life, Apt Pupil, Casablanca, Die Hard.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</a:rPr>
              <a:t>UE25MA242A | Problem 13 | Movie taste clustering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Rank and basis remove redundancy; projection and least squares predict ratings (RMSE 0.836 vs baseline 0.874)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Eigenvectors of a symmetric Laplacian split users into 3 taste clusters that drive recommendations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Limitations: sparse data; missing ratings treated as average</a:t>
            </a:r>
            <a:r>
              <a:rPr lang="en-IN" sz="1800" dirty="0">
                <a:solidFill>
                  <a:srgbClr val="22303C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4942</Words>
  <Application>WPS Presentation</Application>
  <PresentationFormat>On-screen Show (16:9)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Adithya Jayanth</cp:lastModifiedBy>
  <cp:revision>3</cp:revision>
  <dcterms:created xsi:type="dcterms:W3CDTF">2026-10-11T07:09:00Z</dcterms:created>
  <dcterms:modified xsi:type="dcterms:W3CDTF">2026-10-12T04:44:25Z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FF4312CD6E8D4862B1E4B80A11EC4CD6_12</vt:lpwstr>
  </property>
</Properties>
</file>